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embeddedFontLst>
    <p:embeddedFont>
      <p:font typeface="Play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ktfuqxh6xhAUTSQ/XaITpXW4R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-regular.fntdata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font" Target="fonts/Play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ALVY_MASTER">
  <p:cSld name="WALVY_MASTER">
    <p:bg>
      <p:bgPr>
        <a:solidFill>
          <a:srgbClr val="F7F1E8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/>
          <p:nvPr/>
        </p:nvSpPr>
        <p:spPr>
          <a:xfrm>
            <a:off x="502920" y="6455664"/>
            <a:ext cx="2926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E8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D8E8F"/>
                </a:solidFill>
                <a:latin typeface="Arial"/>
                <a:ea typeface="Arial"/>
                <a:cs typeface="Arial"/>
                <a:sym typeface="Arial"/>
              </a:rPr>
              <a:t>Walvy · Brand starter kit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8"/>
          <p:cNvSpPr/>
          <p:nvPr/>
        </p:nvSpPr>
        <p:spPr>
          <a:xfrm>
            <a:off x="9692640" y="6455664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D8E8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D8E8F"/>
                </a:solidFill>
                <a:latin typeface="Arial"/>
                <a:ea typeface="Arial"/>
                <a:cs typeface="Arial"/>
                <a:sym typeface="Arial"/>
              </a:rPr>
              <a:t>Concepto inicial editable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11658600" y="641908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D8E8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D8E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D8E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D8E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D8E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D8E8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D8E8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D8E8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D8E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11658600" y="641908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D8E8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D8E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D8E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D8E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D8E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D8E8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D8E8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D8E8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D8E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1E8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walvy_brand/assets/walvy-bg-wave.svg"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566928" y="475488"/>
            <a:ext cx="5303520" cy="5468112"/>
          </a:xfrm>
          <a:prstGeom prst="roundRect">
            <a:avLst>
              <a:gd fmla="val 3793" name="adj"/>
            </a:avLst>
          </a:prstGeom>
          <a:solidFill>
            <a:srgbClr val="F9F5EF"/>
          </a:solidFill>
          <a:ln cap="flat" cmpd="sng" w="12700">
            <a:solidFill>
              <a:srgbClr val="EEE7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04672" y="841248"/>
            <a:ext cx="4389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3F43"/>
              </a:buClr>
              <a:buSzPts val="3200"/>
              <a:buFont typeface="Play"/>
              <a:buNone/>
            </a:pPr>
            <a:r>
              <a:rPr b="1" lang="en-US" sz="3200">
                <a:solidFill>
                  <a:srgbClr val="103F43"/>
                </a:solidFill>
                <a:latin typeface="Play"/>
                <a:ea typeface="Play"/>
                <a:cs typeface="Play"/>
                <a:sym typeface="Play"/>
              </a:rPr>
              <a:t>Walvy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22960" y="1499616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7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B6B73"/>
                </a:solidFill>
                <a:latin typeface="Arial"/>
                <a:ea typeface="Arial"/>
                <a:cs typeface="Arial"/>
                <a:sym typeface="Arial"/>
              </a:rPr>
              <a:t>starter brand kit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822960" y="1783080"/>
            <a:ext cx="43891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Versión final seleccionada para cerrar la marca antes del manual completo.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822960" y="2468880"/>
            <a:ext cx="4434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Territorio recomendado: calma operativa.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Walvy no se ve como una fintech dura; se ve como una guía clara para ordenar deudas, pagos y fugas del mes.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822960" y="4800600"/>
            <a:ext cx="4480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73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1B6B73"/>
                </a:solidFill>
                <a:latin typeface="Arial"/>
                <a:ea typeface="Arial"/>
                <a:cs typeface="Arial"/>
                <a:sym typeface="Arial"/>
              </a:rPr>
              <a:t>sal del rojo · ordena pagos · haz rendir tu sueldo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144768" y="658368"/>
            <a:ext cx="5440680" cy="5074920"/>
          </a:xfrm>
          <a:prstGeom prst="roundRect">
            <a:avLst>
              <a:gd fmla="val 3964" name="adj"/>
            </a:avLst>
          </a:prstGeom>
          <a:solidFill>
            <a:srgbClr val="F7F1E8"/>
          </a:solidFill>
          <a:ln cap="flat" cmpd="sng" w="12700">
            <a:solidFill>
              <a:srgbClr val="E3E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alvy-lockup-refined-b.png" id="29" name="Google Shape;2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0" y="914400"/>
            <a:ext cx="4114800" cy="1097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lvy-avatar-refined-a.png" id="30" name="Google Shape;3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66760" y="2148840"/>
            <a:ext cx="201168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"/>
          <p:cNvSpPr/>
          <p:nvPr/>
        </p:nvSpPr>
        <p:spPr>
          <a:xfrm>
            <a:off x="6656832" y="4498848"/>
            <a:ext cx="2057400" cy="749808"/>
          </a:xfrm>
          <a:prstGeom prst="roundRect">
            <a:avLst>
              <a:gd fmla="val 21951" name="adj"/>
            </a:avLst>
          </a:prstGeom>
          <a:solidFill>
            <a:srgbClr val="103F43"/>
          </a:solidFill>
          <a:ln cap="flat" cmpd="sng" w="12700">
            <a:solidFill>
              <a:srgbClr val="103F4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903720" y="4709160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Botón primario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8942832" y="4498848"/>
            <a:ext cx="2194560" cy="749808"/>
          </a:xfrm>
          <a:prstGeom prst="roundRect">
            <a:avLst>
              <a:gd fmla="val 21951" name="adj"/>
            </a:avLst>
          </a:prstGeom>
          <a:solidFill>
            <a:srgbClr val="FFFFFF"/>
          </a:solidFill>
          <a:ln cap="flat" cmpd="sng" w="12700">
            <a:solidFill>
              <a:srgbClr val="D5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9189720" y="4709160"/>
            <a:ext cx="1719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3F43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03F43"/>
                </a:solidFill>
                <a:latin typeface="Arial"/>
                <a:ea typeface="Arial"/>
                <a:cs typeface="Arial"/>
                <a:sym typeface="Arial"/>
              </a:rPr>
              <a:t>Botón secundario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6601968" y="5504688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Brand kit final · logo · isotipo · avatar · paleta · tono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 txBox="1"/>
          <p:nvPr>
            <p:ph idx="4294967295" type="sldNum"/>
          </p:nvPr>
        </p:nvSpPr>
        <p:spPr>
          <a:xfrm>
            <a:off x="11658600" y="641908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D8E8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D8E8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"/>
          <p:cNvSpPr/>
          <p:nvPr/>
        </p:nvSpPr>
        <p:spPr>
          <a:xfrm>
            <a:off x="594360" y="310896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73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B6B73"/>
                </a:solidFill>
                <a:latin typeface="Arial"/>
                <a:ea typeface="Arial"/>
                <a:cs typeface="Arial"/>
                <a:sym typeface="Arial"/>
              </a:rPr>
              <a:t>TERRITORIO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66928" y="566928"/>
            <a:ext cx="6583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3F43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03F43"/>
                </a:solidFill>
                <a:latin typeface="Play"/>
                <a:ea typeface="Play"/>
                <a:cs typeface="Play"/>
                <a:sym typeface="Play"/>
              </a:rPr>
              <a:t>Qué debe comunicar la marca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94360" y="1024128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Aterrizado desde el foco estratégico del MVP: deuda, pagos, presupuesto vivo y baja fricción.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21792" y="1600200"/>
            <a:ext cx="4754880" cy="4526280"/>
          </a:xfrm>
          <a:prstGeom prst="roundRect">
            <a:avLst>
              <a:gd fmla="val 4040" name="adj"/>
            </a:avLst>
          </a:prstGeom>
          <a:solidFill>
            <a:srgbClr val="FAF6F0"/>
          </a:solidFill>
          <a:ln cap="flat" cmpd="sng" w="12700">
            <a:solidFill>
              <a:srgbClr val="E8E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914400" y="1847088"/>
            <a:ext cx="41605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3F43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103F43"/>
                </a:solidFill>
                <a:latin typeface="Play"/>
                <a:ea typeface="Play"/>
                <a:cs typeface="Play"/>
                <a:sym typeface="Play"/>
              </a:rPr>
              <a:t>“Walvy te ayuda a recuperar control financiero sin volverte contador de ti mismo.”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932688" y="324612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7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B6B73"/>
                </a:solidFill>
                <a:latin typeface="Arial"/>
                <a:ea typeface="Arial"/>
                <a:cs typeface="Arial"/>
                <a:sym typeface="Arial"/>
              </a:rPr>
              <a:t>La identidad debe sentirse: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932688" y="3584448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Clara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2286000" y="3593592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muestra qué hacer primero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932688" y="4133088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Serena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286000" y="4142232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baja ansiedad y evita culpa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932688" y="4681728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Confiable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2286000" y="4690872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más cercana a guía que a banco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932688" y="5230368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Accionable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2286000" y="5239512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convierte datos en próximos pasos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897880" y="1737360"/>
            <a:ext cx="2514600" cy="1600200"/>
          </a:xfrm>
          <a:prstGeom prst="roundRect">
            <a:avLst>
              <a:gd fmla="val 9143" name="adj"/>
            </a:avLst>
          </a:prstGeom>
          <a:solidFill>
            <a:srgbClr val="103F43"/>
          </a:solidFill>
          <a:ln cap="flat" cmpd="sng" w="12700">
            <a:solidFill>
              <a:srgbClr val="DC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6080760" y="190195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ECE2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CDECE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080760" y="217627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Salir del rojo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080760" y="257860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EE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D8EEEA"/>
                </a:solidFill>
                <a:latin typeface="Arial"/>
                <a:ea typeface="Arial"/>
                <a:cs typeface="Arial"/>
                <a:sym typeface="Arial"/>
              </a:rPr>
              <a:t>La marca debe hablar de progreso visible.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8732520" y="1737360"/>
            <a:ext cx="2514600" cy="1600200"/>
          </a:xfrm>
          <a:prstGeom prst="roundRect">
            <a:avLst>
              <a:gd fmla="val 9143" name="adj"/>
            </a:avLst>
          </a:prstGeom>
          <a:solidFill>
            <a:srgbClr val="FFFFFF"/>
          </a:solidFill>
          <a:ln cap="flat" cmpd="sng" w="12700">
            <a:solidFill>
              <a:srgbClr val="DC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8915400" y="190195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8D78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EE8D7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8915400" y="217627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3F43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103F43"/>
                </a:solidFill>
                <a:latin typeface="Play"/>
                <a:ea typeface="Play"/>
                <a:cs typeface="Play"/>
                <a:sym typeface="Play"/>
              </a:rPr>
              <a:t>Ordenar pagos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8915400" y="257860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Menos caos; más control sobre vencimientos.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897880" y="3749040"/>
            <a:ext cx="2514600" cy="1600200"/>
          </a:xfrm>
          <a:prstGeom prst="roundRect">
            <a:avLst>
              <a:gd fmla="val 9143" name="adj"/>
            </a:avLst>
          </a:prstGeom>
          <a:solidFill>
            <a:srgbClr val="FFFFFF"/>
          </a:solidFill>
          <a:ln cap="flat" cmpd="sng" w="12700">
            <a:solidFill>
              <a:srgbClr val="DC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6080760" y="391363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8D78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EE8D7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080760" y="418795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3F43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103F43"/>
                </a:solidFill>
                <a:latin typeface="Play"/>
                <a:ea typeface="Play"/>
                <a:cs typeface="Play"/>
                <a:sym typeface="Play"/>
              </a:rPr>
              <a:t>Hacer rendir el sueldo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080760" y="459028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Presupuesto vivo, fugas y ahorro liberado.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8732520" y="3749040"/>
            <a:ext cx="2514600" cy="1600200"/>
          </a:xfrm>
          <a:prstGeom prst="roundRect">
            <a:avLst>
              <a:gd fmla="val 9143" name="adj"/>
            </a:avLst>
          </a:prstGeom>
          <a:solidFill>
            <a:srgbClr val="103F43"/>
          </a:solidFill>
          <a:ln cap="flat" cmpd="sng" w="12700">
            <a:solidFill>
              <a:srgbClr val="DCE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8915400" y="391363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ECE2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CDECE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8915400" y="418795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Registrar sin fricción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8915400" y="459028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EE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D8EEEA"/>
                </a:solidFill>
                <a:latin typeface="Arial"/>
                <a:ea typeface="Arial"/>
                <a:cs typeface="Arial"/>
                <a:sym typeface="Arial"/>
              </a:rPr>
              <a:t>Sin planillas ni rituales pesados.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>
            <p:ph idx="4294967295" type="sldNum"/>
          </p:nvPr>
        </p:nvSpPr>
        <p:spPr>
          <a:xfrm>
            <a:off x="11658600" y="641908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7D8E8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D8E8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/>
          <p:nvPr/>
        </p:nvSpPr>
        <p:spPr>
          <a:xfrm>
            <a:off x="594360" y="310896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73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B6B73"/>
                </a:solidFill>
                <a:latin typeface="Arial"/>
                <a:ea typeface="Arial"/>
                <a:cs typeface="Arial"/>
                <a:sym typeface="Arial"/>
              </a:rPr>
              <a:t>SISTEMA VISUAL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66928" y="566928"/>
            <a:ext cx="6583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3F43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03F43"/>
                </a:solidFill>
                <a:latin typeface="Play"/>
                <a:ea typeface="Play"/>
                <a:cs typeface="Play"/>
                <a:sym typeface="Play"/>
              </a:rPr>
              <a:t>Paleta, tipografía y componentes base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94360" y="1024128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Pensado para una identidad sobria, cálida y utilizable en producto, deck y materiales comerciales.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85800" y="1691640"/>
            <a:ext cx="1389888" cy="1207008"/>
          </a:xfrm>
          <a:prstGeom prst="roundRect">
            <a:avLst>
              <a:gd fmla="val 9091" name="adj"/>
            </a:avLst>
          </a:prstGeom>
          <a:solidFill>
            <a:srgbClr val="103F43"/>
          </a:solidFill>
          <a:ln cap="flat" cmpd="sng" w="12700">
            <a:solidFill>
              <a:srgbClr val="103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795528" y="2953512"/>
            <a:ext cx="13898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Deep Teal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795528" y="3108960"/>
            <a:ext cx="13898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#103F43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2286000" y="1691640"/>
            <a:ext cx="1389888" cy="1207008"/>
          </a:xfrm>
          <a:prstGeom prst="roundRect">
            <a:avLst>
              <a:gd fmla="val 9091" name="adj"/>
            </a:avLst>
          </a:prstGeom>
          <a:solidFill>
            <a:srgbClr val="1B6B73"/>
          </a:solidFill>
          <a:ln cap="flat" cmpd="sng" w="12700">
            <a:solidFill>
              <a:srgbClr val="1B6B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2395728" y="2953512"/>
            <a:ext cx="13898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Ocean Teal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2395728" y="3108960"/>
            <a:ext cx="13898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#1B6B73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886200" y="1691640"/>
            <a:ext cx="1389888" cy="1207008"/>
          </a:xfrm>
          <a:prstGeom prst="roundRect">
            <a:avLst>
              <a:gd fmla="val 9091" name="adj"/>
            </a:avLst>
          </a:prstGeom>
          <a:solidFill>
            <a:srgbClr val="CDECE2"/>
          </a:solidFill>
          <a:ln cap="flat" cmpd="sng" w="12700">
            <a:solidFill>
              <a:srgbClr val="CDEC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3995928" y="2953512"/>
            <a:ext cx="13898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Mint Soft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3995928" y="3108960"/>
            <a:ext cx="13898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#CDECE2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486400" y="1691640"/>
            <a:ext cx="1389888" cy="1207008"/>
          </a:xfrm>
          <a:prstGeom prst="roundRect">
            <a:avLst>
              <a:gd fmla="val 9091" name="adj"/>
            </a:avLst>
          </a:prstGeom>
          <a:solidFill>
            <a:srgbClr val="F7F1E8"/>
          </a:solidFill>
          <a:ln cap="flat" cmpd="sng" w="12700">
            <a:solidFill>
              <a:srgbClr val="F7F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5596128" y="2953512"/>
            <a:ext cx="13898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Warm Sand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596128" y="3108960"/>
            <a:ext cx="13898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#F7F1E8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7086600" y="1691640"/>
            <a:ext cx="1389888" cy="1207008"/>
          </a:xfrm>
          <a:prstGeom prst="roundRect">
            <a:avLst>
              <a:gd fmla="val 9091" name="adj"/>
            </a:avLst>
          </a:prstGeom>
          <a:solidFill>
            <a:srgbClr val="1F2A33"/>
          </a:solidFill>
          <a:ln cap="flat" cmpd="sng" w="12700">
            <a:solidFill>
              <a:srgbClr val="1F2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7196328" y="2953512"/>
            <a:ext cx="13898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Graphite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7196328" y="3108960"/>
            <a:ext cx="13898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#1F2A33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8686800" y="1691640"/>
            <a:ext cx="1389888" cy="1207008"/>
          </a:xfrm>
          <a:prstGeom prst="roundRect">
            <a:avLst>
              <a:gd fmla="val 9091" name="adj"/>
            </a:avLst>
          </a:prstGeom>
          <a:solidFill>
            <a:srgbClr val="EE8D78"/>
          </a:solidFill>
          <a:ln cap="flat" cmpd="sng" w="12700">
            <a:solidFill>
              <a:srgbClr val="EE8D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8796528" y="2953512"/>
            <a:ext cx="13898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Signal Coral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8796528" y="3108960"/>
            <a:ext cx="13898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#EE8D78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58368" y="3337560"/>
            <a:ext cx="4663440" cy="2148840"/>
          </a:xfrm>
          <a:prstGeom prst="roundRect">
            <a:avLst>
              <a:gd fmla="val 7660" name="adj"/>
            </a:avLst>
          </a:prstGeom>
          <a:solidFill>
            <a:srgbClr val="FFFFFF"/>
          </a:solidFill>
          <a:ln cap="flat" cmpd="sng" w="12700">
            <a:solidFill>
              <a:srgbClr val="D9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896112" y="3584448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7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B6B73"/>
                </a:solidFill>
                <a:latin typeface="Arial"/>
                <a:ea typeface="Arial"/>
                <a:cs typeface="Arial"/>
                <a:sym typeface="Arial"/>
              </a:rPr>
              <a:t>Tipografía recomendada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914400" y="3913632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3F43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03F43"/>
                </a:solidFill>
                <a:latin typeface="Play"/>
                <a:ea typeface="Play"/>
                <a:cs typeface="Play"/>
                <a:sym typeface="Play"/>
              </a:rPr>
              <a:t>Aptos Display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932688" y="434340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Títulos grandes, limpios y con peso editorial.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914400" y="473659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Aptos Regular / Semibold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932688" y="5029200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Body copy, interfaces y materiales editables.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5559552" y="3337560"/>
            <a:ext cx="5943600" cy="2148840"/>
          </a:xfrm>
          <a:prstGeom prst="roundRect">
            <a:avLst>
              <a:gd fmla="val 7660" name="adj"/>
            </a:avLst>
          </a:prstGeom>
          <a:solidFill>
            <a:srgbClr val="FAF6F0"/>
          </a:solidFill>
          <a:ln cap="flat" cmpd="sng" w="12700">
            <a:solidFill>
              <a:srgbClr val="E7E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5815584" y="358444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7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B6B73"/>
                </a:solidFill>
                <a:latin typeface="Arial"/>
                <a:ea typeface="Arial"/>
                <a:cs typeface="Arial"/>
                <a:sym typeface="Arial"/>
              </a:rPr>
              <a:t>Componentes base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5833872" y="4005072"/>
            <a:ext cx="1920240" cy="713232"/>
          </a:xfrm>
          <a:prstGeom prst="roundRect">
            <a:avLst>
              <a:gd fmla="val 20513" name="adj"/>
            </a:avLst>
          </a:prstGeom>
          <a:solidFill>
            <a:srgbClr val="103F43"/>
          </a:solidFill>
          <a:ln cap="flat" cmpd="sng" w="12700">
            <a:solidFill>
              <a:srgbClr val="103F4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6144768" y="4215384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CTA principal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7973568" y="4005072"/>
            <a:ext cx="1920240" cy="713232"/>
          </a:xfrm>
          <a:prstGeom prst="roundRect">
            <a:avLst>
              <a:gd fmla="val 20513" name="adj"/>
            </a:avLst>
          </a:prstGeom>
          <a:solidFill>
            <a:srgbClr val="FFFFFF"/>
          </a:solidFill>
          <a:ln cap="flat" cmpd="sng" w="12700">
            <a:solidFill>
              <a:srgbClr val="D5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8229600" y="4215384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3F43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103F43"/>
                </a:solidFill>
                <a:latin typeface="Arial"/>
                <a:ea typeface="Arial"/>
                <a:cs typeface="Arial"/>
                <a:sym typeface="Arial"/>
              </a:rPr>
              <a:t>CTA secundario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10076688" y="4005072"/>
            <a:ext cx="1060704" cy="713232"/>
          </a:xfrm>
          <a:prstGeom prst="roundRect">
            <a:avLst>
              <a:gd fmla="val 20513" name="adj"/>
            </a:avLst>
          </a:prstGeom>
          <a:solidFill>
            <a:srgbClr val="CDECE2"/>
          </a:solidFill>
          <a:ln cap="flat" cmpd="sng" w="12700">
            <a:solidFill>
              <a:srgbClr val="CDEC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10287000" y="4215384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3F4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03F43"/>
                </a:solidFill>
                <a:latin typeface="Arial"/>
                <a:ea typeface="Arial"/>
                <a:cs typeface="Arial"/>
                <a:sym typeface="Arial"/>
              </a:rPr>
              <a:t>Chip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5833872" y="4818888"/>
            <a:ext cx="5120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Surface clara + tipografía oscura + un solo acento cálido.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La interfaz debe sentirse ordenada, no financiera-agresiva.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 txBox="1"/>
          <p:nvPr>
            <p:ph idx="4294967295" type="sldNum"/>
          </p:nvPr>
        </p:nvSpPr>
        <p:spPr>
          <a:xfrm>
            <a:off x="11658600" y="641908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7D8E8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D8E8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594360" y="310896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73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B6B73"/>
                </a:solidFill>
                <a:latin typeface="Arial"/>
                <a:ea typeface="Arial"/>
                <a:cs typeface="Arial"/>
                <a:sym typeface="Arial"/>
              </a:rPr>
              <a:t>IDENTIDAD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66928" y="566928"/>
            <a:ext cx="6583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3F43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03F43"/>
                </a:solidFill>
                <a:latin typeface="Play"/>
                <a:ea typeface="Play"/>
                <a:cs typeface="Play"/>
                <a:sym typeface="Play"/>
              </a:rPr>
              <a:t>Logo, isotipo y app icon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94360" y="1024128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Sistema simple para que la marca funcione bien en app, deck, landing y piezas comerciales.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58368" y="1572768"/>
            <a:ext cx="6400800" cy="2148840"/>
          </a:xfrm>
          <a:prstGeom prst="roundRect">
            <a:avLst>
              <a:gd fmla="val 7660" name="adj"/>
            </a:avLst>
          </a:prstGeom>
          <a:solidFill>
            <a:srgbClr val="FFFFFF"/>
          </a:solidFill>
          <a:ln cap="flat" cmpd="sng" w="12700">
            <a:solidFill>
              <a:srgbClr val="D8E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896112" y="178308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7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B6B73"/>
                </a:solidFill>
                <a:latin typeface="Arial"/>
                <a:ea typeface="Arial"/>
                <a:cs typeface="Arial"/>
                <a:sym typeface="Arial"/>
              </a:rPr>
              <a:t>Logo principal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alvy-lockup-refined-b.png" id="125" name="Google Shape;1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5920" y="2048256"/>
            <a:ext cx="411480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/>
          <p:nvPr/>
        </p:nvSpPr>
        <p:spPr>
          <a:xfrm>
            <a:off x="896112" y="3401568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Se recomienda usarlo siempre con la frase madre en materiales de lanzamiento.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58368" y="4023360"/>
            <a:ext cx="2971800" cy="1783080"/>
          </a:xfrm>
          <a:prstGeom prst="roundRect">
            <a:avLst>
              <a:gd fmla="val 9231" name="adj"/>
            </a:avLst>
          </a:prstGeom>
          <a:solidFill>
            <a:srgbClr val="103F43"/>
          </a:solidFill>
          <a:ln cap="flat" cmpd="sng" w="12700">
            <a:solidFill>
              <a:srgbClr val="103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alvy-lockup-dark.png" id="128" name="Google Shape;12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" y="4457395"/>
            <a:ext cx="2505456" cy="66812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/>
          <p:nvPr/>
        </p:nvSpPr>
        <p:spPr>
          <a:xfrm>
            <a:off x="1005840" y="5358384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EEE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D8EEEA"/>
                </a:solidFill>
                <a:latin typeface="Arial"/>
                <a:ea typeface="Arial"/>
                <a:cs typeface="Arial"/>
                <a:sym typeface="Arial"/>
              </a:rPr>
              <a:t>Versión sobre fondo oscuro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3822192" y="4023360"/>
            <a:ext cx="1600200" cy="1783080"/>
          </a:xfrm>
          <a:prstGeom prst="roundRect">
            <a:avLst>
              <a:gd fmla="val 10286" name="adj"/>
            </a:avLst>
          </a:prstGeom>
          <a:solidFill>
            <a:srgbClr val="FFFFFF"/>
          </a:solidFill>
          <a:ln cap="flat" cmpd="sng" w="12700">
            <a:solidFill>
              <a:srgbClr val="D8E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alvy-isotype-refined-c.png" id="131" name="Google Shape;13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87368" y="4224528"/>
            <a:ext cx="1078992" cy="107899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/>
          <p:nvPr/>
        </p:nvSpPr>
        <p:spPr>
          <a:xfrm>
            <a:off x="4114800" y="5358384"/>
            <a:ext cx="987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Isotipo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5632704" y="4023360"/>
            <a:ext cx="1426464" cy="1783080"/>
          </a:xfrm>
          <a:prstGeom prst="roundRect">
            <a:avLst>
              <a:gd fmla="val 11538" name="adj"/>
            </a:avLst>
          </a:prstGeom>
          <a:solidFill>
            <a:srgbClr val="FAF6F0"/>
          </a:solidFill>
          <a:ln cap="flat" cmpd="sng" w="12700">
            <a:solidFill>
              <a:srgbClr val="E3D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5806440" y="5358384"/>
            <a:ext cx="1051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App icon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7388352" y="1572768"/>
            <a:ext cx="4160520" cy="4233672"/>
          </a:xfrm>
          <a:prstGeom prst="roundRect">
            <a:avLst>
              <a:gd fmla="val 3956" name="adj"/>
            </a:avLst>
          </a:prstGeom>
          <a:solidFill>
            <a:srgbClr val="FAF6F0"/>
          </a:solidFill>
          <a:ln cap="flat" cmpd="sng" w="12700">
            <a:solidFill>
              <a:srgbClr val="E7E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7662672" y="181051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7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B6B73"/>
                </a:solidFill>
                <a:latin typeface="Arial"/>
                <a:ea typeface="Arial"/>
                <a:cs typeface="Arial"/>
                <a:sym typeface="Arial"/>
              </a:rPr>
              <a:t>Principios del logo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7662672" y="2267712"/>
            <a:ext cx="73152" cy="73152"/>
          </a:xfrm>
          <a:prstGeom prst="ellipse">
            <a:avLst/>
          </a:prstGeom>
          <a:solidFill>
            <a:srgbClr val="EE8D78"/>
          </a:solidFill>
          <a:ln cap="flat" cmpd="sng" w="12700">
            <a:solidFill>
              <a:srgbClr val="EE8D7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7808976" y="221284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Monograma amable, no bancario.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7662672" y="2779776"/>
            <a:ext cx="73152" cy="73152"/>
          </a:xfrm>
          <a:prstGeom prst="ellipse">
            <a:avLst/>
          </a:prstGeom>
          <a:solidFill>
            <a:srgbClr val="EE8D78"/>
          </a:solidFill>
          <a:ln cap="flat" cmpd="sng" w="12700">
            <a:solidFill>
              <a:srgbClr val="EE8D7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7808976" y="2724912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Curva coral separada = sonrisa, alivio y progreso visible.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7662672" y="3291840"/>
            <a:ext cx="73152" cy="73152"/>
          </a:xfrm>
          <a:prstGeom prst="ellipse">
            <a:avLst/>
          </a:prstGeom>
          <a:solidFill>
            <a:srgbClr val="EE8D78"/>
          </a:solidFill>
          <a:ln cap="flat" cmpd="sng" w="12700">
            <a:solidFill>
              <a:srgbClr val="EE8D7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7808976" y="3236976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Formas redondeadas = cercanía y calma.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7662672" y="3803904"/>
            <a:ext cx="73152" cy="73152"/>
          </a:xfrm>
          <a:prstGeom prst="ellipse">
            <a:avLst/>
          </a:prstGeom>
          <a:solidFill>
            <a:srgbClr val="EE8D78"/>
          </a:solidFill>
          <a:ln cap="flat" cmpd="sng" w="12700">
            <a:solidFill>
              <a:srgbClr val="EE8D7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7808976" y="374904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Más simétrico y robusto en tamaños pequeños.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7662672" y="4315968"/>
            <a:ext cx="73152" cy="73152"/>
          </a:xfrm>
          <a:prstGeom prst="ellipse">
            <a:avLst/>
          </a:prstGeom>
          <a:solidFill>
            <a:srgbClr val="EE8D78"/>
          </a:solidFill>
          <a:ln cap="flat" cmpd="sng" w="12700">
            <a:solidFill>
              <a:srgbClr val="EE8D7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7808976" y="426110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Funciona en claro, oscuro y app icon.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/>
          <p:nvPr>
            <p:ph idx="4294967295" type="sldNum"/>
          </p:nvPr>
        </p:nvSpPr>
        <p:spPr>
          <a:xfrm>
            <a:off x="11658600" y="641908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7D8E8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D8E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alvy-app-icon-corrected.png" id="148" name="Google Shape;14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33872" y="4215384"/>
            <a:ext cx="1024128" cy="1024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/>
          <p:cNvSpPr/>
          <p:nvPr/>
        </p:nvSpPr>
        <p:spPr>
          <a:xfrm>
            <a:off x="594360" y="310896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73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B6B73"/>
                </a:solidFill>
                <a:latin typeface="Arial"/>
                <a:ea typeface="Arial"/>
                <a:cs typeface="Arial"/>
                <a:sym typeface="Arial"/>
              </a:rPr>
              <a:t>VOZ Y PRESENCIA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66928" y="566928"/>
            <a:ext cx="6583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3F43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03F43"/>
                </a:solidFill>
                <a:latin typeface="Play"/>
                <a:ea typeface="Play"/>
                <a:cs typeface="Play"/>
                <a:sym typeface="Play"/>
              </a:rPr>
              <a:t>Avatar asistivo + tono de marca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594360" y="1024128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La recomendación es usar un copiloto discreto, no una mascota infantil.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658368" y="1572768"/>
            <a:ext cx="3794760" cy="4553712"/>
          </a:xfrm>
          <a:prstGeom prst="roundRect">
            <a:avLst>
              <a:gd fmla="val 4337" name="adj"/>
            </a:avLst>
          </a:prstGeom>
          <a:solidFill>
            <a:srgbClr val="FFFFFF"/>
          </a:solidFill>
          <a:ln cap="flat" cmpd="sng" w="12700">
            <a:solidFill>
              <a:srgbClr val="D8E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alvy-avatar-refined-a.png" id="158" name="Google Shape;1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4440" y="1847088"/>
            <a:ext cx="2651760" cy="2651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5"/>
          <p:cNvSpPr/>
          <p:nvPr/>
        </p:nvSpPr>
        <p:spPr>
          <a:xfrm>
            <a:off x="960120" y="44805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3F43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103F43"/>
                </a:solidFill>
                <a:latin typeface="Play"/>
                <a:ea typeface="Play"/>
                <a:cs typeface="Play"/>
                <a:sym typeface="Play"/>
              </a:rPr>
              <a:t>Avatar recomendado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914400" y="4892040"/>
            <a:ext cx="2880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Orb suave:</a:t>
            </a:r>
            <a:br>
              <a:rPr b="0" lang="en-US" sz="11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1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más limpio,</a:t>
            </a:r>
            <a:br>
              <a:rPr b="0" lang="en-US" sz="11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1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mantiene calidez,</a:t>
            </a:r>
            <a:br>
              <a:rPr b="0" lang="en-US" sz="11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1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mejor para onboarding y estados.</a:t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4709160" y="1572768"/>
            <a:ext cx="6839712" cy="1993392"/>
          </a:xfrm>
          <a:prstGeom prst="roundRect">
            <a:avLst>
              <a:gd fmla="val 8257" name="adj"/>
            </a:avLst>
          </a:prstGeom>
          <a:solidFill>
            <a:srgbClr val="FAF6F0"/>
          </a:solidFill>
          <a:ln cap="flat" cmpd="sng" w="12700">
            <a:solidFill>
              <a:srgbClr val="E7E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992624" y="181051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7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B6B73"/>
                </a:solidFill>
                <a:latin typeface="Arial"/>
                <a:ea typeface="Arial"/>
                <a:cs typeface="Arial"/>
                <a:sym typeface="Arial"/>
              </a:rPr>
              <a:t>Tono recomendado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4983480" y="2240280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3F43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103F43"/>
                </a:solidFill>
                <a:latin typeface="Play"/>
                <a:ea typeface="Play"/>
                <a:cs typeface="Play"/>
                <a:sym typeface="Play"/>
              </a:rPr>
              <a:t>Claro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983480" y="2560320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Explica sin jerga.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6537960" y="2240280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3F43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103F43"/>
                </a:solidFill>
                <a:latin typeface="Play"/>
                <a:ea typeface="Play"/>
                <a:cs typeface="Play"/>
                <a:sym typeface="Play"/>
              </a:rPr>
              <a:t>Sereno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537960" y="2560320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No mete culpa.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8092440" y="2240280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3F43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103F43"/>
                </a:solidFill>
                <a:latin typeface="Play"/>
                <a:ea typeface="Play"/>
                <a:cs typeface="Play"/>
                <a:sym typeface="Play"/>
              </a:rPr>
              <a:t>Directo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8092440" y="2560320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Dice qué hacer ahora.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9646920" y="2240280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3F43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103F43"/>
                </a:solidFill>
                <a:latin typeface="Play"/>
                <a:ea typeface="Play"/>
                <a:cs typeface="Play"/>
                <a:sym typeface="Play"/>
              </a:rPr>
              <a:t>Humano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9646920" y="2560320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Acompaña sin sonar terapéutico.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4709160" y="3794760"/>
            <a:ext cx="3182112" cy="2331720"/>
          </a:xfrm>
          <a:prstGeom prst="roundRect">
            <a:avLst>
              <a:gd fmla="val 7059" name="adj"/>
            </a:avLst>
          </a:prstGeom>
          <a:solidFill>
            <a:srgbClr val="103F43"/>
          </a:solidFill>
          <a:ln cap="flat" cmpd="sng" w="12700">
            <a:solidFill>
              <a:srgbClr val="103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992624" y="404164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ECE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CDECE2"/>
                </a:solidFill>
                <a:latin typeface="Arial"/>
                <a:ea typeface="Arial"/>
                <a:cs typeface="Arial"/>
                <a:sym typeface="Arial"/>
              </a:rPr>
              <a:t>Ejemplos de copy que sí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992624" y="4443984"/>
            <a:ext cx="73152" cy="73152"/>
          </a:xfrm>
          <a:prstGeom prst="ellipse">
            <a:avLst/>
          </a:prstGeom>
          <a:solidFill>
            <a:srgbClr val="EE8D78"/>
          </a:solidFill>
          <a:ln cap="flat" cmpd="sng" w="12700">
            <a:solidFill>
              <a:srgbClr val="EE8D7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5138928" y="438912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“Hoy te conviene pagar esto primero.”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992624" y="4882896"/>
            <a:ext cx="73152" cy="73152"/>
          </a:xfrm>
          <a:prstGeom prst="ellipse">
            <a:avLst/>
          </a:prstGeom>
          <a:solidFill>
            <a:srgbClr val="EE8D78"/>
          </a:solidFill>
          <a:ln cap="flat" cmpd="sng" w="12700">
            <a:solidFill>
              <a:srgbClr val="EE8D7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5138928" y="4828032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“Todavía estás a tiempo de evitar este atraso.”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4992624" y="5321808"/>
            <a:ext cx="73152" cy="73152"/>
          </a:xfrm>
          <a:prstGeom prst="ellipse">
            <a:avLst/>
          </a:prstGeom>
          <a:solidFill>
            <a:srgbClr val="EE8D78"/>
          </a:solidFill>
          <a:ln cap="flat" cmpd="sng" w="12700">
            <a:solidFill>
              <a:srgbClr val="EE8D7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5138928" y="5266944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“Detectamos una fuga que puedes corregir este mes.”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8119872" y="3794760"/>
            <a:ext cx="3429000" cy="233172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2700">
            <a:solidFill>
              <a:srgbClr val="D8E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8394192" y="404164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8D7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EE8D78"/>
                </a:solidFill>
                <a:latin typeface="Arial"/>
                <a:ea typeface="Arial"/>
                <a:cs typeface="Arial"/>
                <a:sym typeface="Arial"/>
              </a:rPr>
              <a:t>Ejemplos que no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8394192" y="4443984"/>
            <a:ext cx="73152" cy="73152"/>
          </a:xfrm>
          <a:prstGeom prst="ellipse">
            <a:avLst/>
          </a:prstGeom>
          <a:solidFill>
            <a:srgbClr val="EE8D78"/>
          </a:solidFill>
          <a:ln cap="flat" cmpd="sng" w="12700">
            <a:solidFill>
              <a:srgbClr val="EE8D7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8540496" y="43891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“Optimiza tu ecosistema financiero.”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8394192" y="4882896"/>
            <a:ext cx="73152" cy="73152"/>
          </a:xfrm>
          <a:prstGeom prst="ellipse">
            <a:avLst/>
          </a:prstGeom>
          <a:solidFill>
            <a:srgbClr val="EE8D78"/>
          </a:solidFill>
          <a:ln cap="flat" cmpd="sng" w="12700">
            <a:solidFill>
              <a:srgbClr val="EE8D7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8540496" y="482803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“IA mágica que piensa por ti.”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8394192" y="5321808"/>
            <a:ext cx="73152" cy="73152"/>
          </a:xfrm>
          <a:prstGeom prst="ellipse">
            <a:avLst/>
          </a:prstGeom>
          <a:solidFill>
            <a:srgbClr val="EE8D78"/>
          </a:solidFill>
          <a:ln cap="flat" cmpd="sng" w="12700">
            <a:solidFill>
              <a:srgbClr val="EE8D7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8540496" y="526694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“Gamifica tu performance.”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 txBox="1"/>
          <p:nvPr>
            <p:ph idx="4294967295" type="sldNum"/>
          </p:nvPr>
        </p:nvSpPr>
        <p:spPr>
          <a:xfrm>
            <a:off x="11658600" y="641908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7D8E8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D8E8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"/>
          <p:cNvSpPr/>
          <p:nvPr/>
        </p:nvSpPr>
        <p:spPr>
          <a:xfrm>
            <a:off x="594360" y="310896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73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B6B73"/>
                </a:solidFill>
                <a:latin typeface="Arial"/>
                <a:ea typeface="Arial"/>
                <a:cs typeface="Arial"/>
                <a:sym typeface="Arial"/>
              </a:rPr>
              <a:t>APLICACIÓN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566928" y="566928"/>
            <a:ext cx="6583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3F43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03F43"/>
                </a:solidFill>
                <a:latin typeface="Play"/>
                <a:ea typeface="Play"/>
                <a:cs typeface="Play"/>
                <a:sym typeface="Play"/>
              </a:rPr>
              <a:t>Plantilla editable para deck y materiales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594360" y="1024128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Esta lámina deja una base utilizable para seguir construyendo presentaciones y piezas de marca.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658368" y="1664208"/>
            <a:ext cx="5669280" cy="4443984"/>
          </a:xfrm>
          <a:prstGeom prst="roundRect">
            <a:avLst>
              <a:gd fmla="val 3704" name="adj"/>
            </a:avLst>
          </a:prstGeom>
          <a:solidFill>
            <a:srgbClr val="FFFFFF"/>
          </a:solidFill>
          <a:ln cap="flat" cmpd="sng" w="12700">
            <a:solidFill>
              <a:srgbClr val="D8E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896112" y="190195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73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B6B73"/>
                </a:solidFill>
                <a:latin typeface="Arial"/>
                <a:ea typeface="Arial"/>
                <a:cs typeface="Arial"/>
                <a:sym typeface="Arial"/>
              </a:rPr>
              <a:t>Slide cover / one-pager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932688" y="2240280"/>
            <a:ext cx="5074920" cy="3291840"/>
          </a:xfrm>
          <a:prstGeom prst="roundRect">
            <a:avLst>
              <a:gd fmla="val 5000" name="adj"/>
            </a:avLst>
          </a:prstGeom>
          <a:solidFill>
            <a:srgbClr val="F7F1E8"/>
          </a:solidFill>
          <a:ln cap="flat" cmpd="sng" w="12700">
            <a:solidFill>
              <a:srgbClr val="E7E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1234440" y="2670048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3F43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03F43"/>
                </a:solidFill>
                <a:latin typeface="Play"/>
                <a:ea typeface="Play"/>
                <a:cs typeface="Play"/>
                <a:sym typeface="Play"/>
              </a:rPr>
              <a:t>Haz rendir tu sueldo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3F43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03F43"/>
                </a:solidFill>
                <a:latin typeface="Play"/>
                <a:ea typeface="Play"/>
                <a:cs typeface="Play"/>
                <a:sym typeface="Play"/>
              </a:rPr>
              <a:t>y ordena tu mes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1261872" y="374904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757A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Una identidad para mostrar control, claridad y avance real.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1234440" y="4572000"/>
            <a:ext cx="1719072" cy="621792"/>
          </a:xfrm>
          <a:prstGeom prst="roundRect">
            <a:avLst>
              <a:gd fmla="val 20588" name="adj"/>
            </a:avLst>
          </a:prstGeom>
          <a:solidFill>
            <a:srgbClr val="103F43"/>
          </a:solidFill>
          <a:ln cap="flat" cmpd="sng" w="12700">
            <a:solidFill>
              <a:srgbClr val="103F4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1490472" y="4773168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CTA principal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4343400" y="418795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3F43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103F43"/>
                </a:solidFill>
                <a:latin typeface="Play"/>
                <a:ea typeface="Play"/>
                <a:cs typeface="Play"/>
                <a:sym typeface="Play"/>
              </a:rPr>
              <a:t>Walvy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6620256" y="1664208"/>
            <a:ext cx="4919472" cy="4443984"/>
          </a:xfrm>
          <a:prstGeom prst="roundRect">
            <a:avLst>
              <a:gd fmla="val 3704" name="adj"/>
            </a:avLst>
          </a:prstGeom>
          <a:solidFill>
            <a:srgbClr val="FAF6F0"/>
          </a:solidFill>
          <a:ln cap="flat" cmpd="sng" w="12700">
            <a:solidFill>
              <a:srgbClr val="E7E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6903720" y="1901952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73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B6B73"/>
                </a:solidFill>
                <a:latin typeface="Arial"/>
                <a:ea typeface="Arial"/>
                <a:cs typeface="Arial"/>
                <a:sym typeface="Arial"/>
              </a:rPr>
              <a:t>Herramientas incluidas en este kit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6903720" y="2304288"/>
            <a:ext cx="73152" cy="73152"/>
          </a:xfrm>
          <a:prstGeom prst="ellipse">
            <a:avLst/>
          </a:prstGeom>
          <a:solidFill>
            <a:srgbClr val="EE8D78"/>
          </a:solidFill>
          <a:ln cap="flat" cmpd="sng" w="12700">
            <a:solidFill>
              <a:srgbClr val="EE8D7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7050024" y="2249424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Paleta con códigos hex.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6903720" y="2798064"/>
            <a:ext cx="73152" cy="73152"/>
          </a:xfrm>
          <a:prstGeom prst="ellipse">
            <a:avLst/>
          </a:prstGeom>
          <a:solidFill>
            <a:srgbClr val="EE8D78"/>
          </a:solidFill>
          <a:ln cap="flat" cmpd="sng" w="12700">
            <a:solidFill>
              <a:srgbClr val="EE8D7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7050024" y="274320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Logo principal e isotipo.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6903720" y="3291840"/>
            <a:ext cx="73152" cy="73152"/>
          </a:xfrm>
          <a:prstGeom prst="ellipse">
            <a:avLst/>
          </a:prstGeom>
          <a:solidFill>
            <a:srgbClr val="EE8D78"/>
          </a:solidFill>
          <a:ln cap="flat" cmpd="sng" w="12700">
            <a:solidFill>
              <a:srgbClr val="EE8D7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7050024" y="323697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Avatar asistivo y app icon.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6903720" y="3785616"/>
            <a:ext cx="73152" cy="73152"/>
          </a:xfrm>
          <a:prstGeom prst="ellipse">
            <a:avLst/>
          </a:prstGeom>
          <a:solidFill>
            <a:srgbClr val="EE8D78"/>
          </a:solidFill>
          <a:ln cap="flat" cmpd="sng" w="12700">
            <a:solidFill>
              <a:srgbClr val="EE8D7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7050024" y="3730752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Tono de voz con ejemplos.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6903720" y="4279392"/>
            <a:ext cx="73152" cy="73152"/>
          </a:xfrm>
          <a:prstGeom prst="ellipse">
            <a:avLst/>
          </a:prstGeom>
          <a:solidFill>
            <a:srgbClr val="EE8D78"/>
          </a:solidFill>
          <a:ln cap="flat" cmpd="sng" w="12700">
            <a:solidFill>
              <a:srgbClr val="EE8D7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7050024" y="4224528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PPT editable para seguir iterando.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6903720" y="480060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8D78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EE8D78"/>
                </a:solidFill>
                <a:latin typeface="Arial"/>
                <a:ea typeface="Arial"/>
                <a:cs typeface="Arial"/>
                <a:sym typeface="Arial"/>
              </a:rPr>
              <a:t>Sistema final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6903720" y="4800600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6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1) isotipo C · geometría balanceada,</a:t>
            </a:r>
            <a:br>
              <a:rPr b="0" lang="en-US" sz="126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26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2) avatar A · orb suave.</a:t>
            </a:r>
            <a:br>
              <a:rPr b="0" lang="en-US" sz="126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260">
                <a:solidFill>
                  <a:srgbClr val="54757A"/>
                </a:solidFill>
                <a:latin typeface="Arial"/>
                <a:ea typeface="Arial"/>
                <a:cs typeface="Arial"/>
                <a:sym typeface="Arial"/>
              </a:rPr>
              <a:t>Próximo paso: manual de marca y aplicaciones.</a:t>
            </a:r>
            <a:endParaRPr/>
          </a:p>
        </p:txBody>
      </p:sp>
      <p:sp>
        <p:nvSpPr>
          <p:cNvPr id="218" name="Google Shape;218;p6"/>
          <p:cNvSpPr txBox="1"/>
          <p:nvPr>
            <p:ph idx="4294967295" type="sldNum"/>
          </p:nvPr>
        </p:nvSpPr>
        <p:spPr>
          <a:xfrm>
            <a:off x="11658600" y="641908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7D8E8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D8E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alvy-app-icon-corrected.png" id="219" name="Google Shape;2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6240" y="2743200"/>
            <a:ext cx="1325880" cy="1325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2026-03-29T21:22:02Z</dcterms:created>
  <dc:creator>OpenAI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0x01010058FCD4A6AF5D0146B0CDBDC1ECCDCBE7</vt:lpwstr>
  </property>
</Properties>
</file>